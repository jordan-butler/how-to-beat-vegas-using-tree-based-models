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43891200" cy="32918400"/>
  <p:notesSz cx="9296400" cy="7010400"/>
  <p:defaultTextStyle>
    <a:defPPr>
      <a:defRPr lang="en-US"/>
    </a:defPPr>
    <a:lvl1pPr algn="ctr" rtl="0" eaLnBrk="0" fontAlgn="base" hangingPunct="0">
      <a:lnSpc>
        <a:spcPct val="65000"/>
      </a:lnSpc>
      <a:spcBef>
        <a:spcPct val="50000"/>
      </a:spcBef>
      <a:spcAft>
        <a:spcPct val="0"/>
      </a:spcAft>
      <a:defRPr sz="54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ctr" rtl="0" eaLnBrk="0" fontAlgn="base" hangingPunct="0">
      <a:lnSpc>
        <a:spcPct val="65000"/>
      </a:lnSpc>
      <a:spcBef>
        <a:spcPct val="50000"/>
      </a:spcBef>
      <a:spcAft>
        <a:spcPct val="0"/>
      </a:spcAft>
      <a:defRPr sz="54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ctr" rtl="0" eaLnBrk="0" fontAlgn="base" hangingPunct="0">
      <a:lnSpc>
        <a:spcPct val="65000"/>
      </a:lnSpc>
      <a:spcBef>
        <a:spcPct val="50000"/>
      </a:spcBef>
      <a:spcAft>
        <a:spcPct val="0"/>
      </a:spcAft>
      <a:defRPr sz="54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ctr" rtl="0" eaLnBrk="0" fontAlgn="base" hangingPunct="0">
      <a:lnSpc>
        <a:spcPct val="65000"/>
      </a:lnSpc>
      <a:spcBef>
        <a:spcPct val="50000"/>
      </a:spcBef>
      <a:spcAft>
        <a:spcPct val="0"/>
      </a:spcAft>
      <a:defRPr sz="54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ctr" rtl="0" eaLnBrk="0" fontAlgn="base" hangingPunct="0">
      <a:lnSpc>
        <a:spcPct val="65000"/>
      </a:lnSpc>
      <a:spcBef>
        <a:spcPct val="50000"/>
      </a:spcBef>
      <a:spcAft>
        <a:spcPct val="0"/>
      </a:spcAft>
      <a:defRPr sz="54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54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54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54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54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>
          <p15:clr>
            <a:srgbClr val="A4A3A4"/>
          </p15:clr>
        </p15:guide>
        <p15:guide id="2" pos="1387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manda Nicole Ferguson" initials="ANF" lastIdx="8" clrIdx="0"/>
  <p:cmAuthor id="2" name="Abigail King" initials="AK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93"/>
    <a:srgbClr val="F5CB2E"/>
    <a:srgbClr val="E3B32B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7890" autoAdjust="0"/>
    <p:restoredTop sz="94660" autoAdjust="0"/>
  </p:normalViewPr>
  <p:slideViewPr>
    <p:cSldViewPr>
      <p:cViewPr varScale="1">
        <p:scale>
          <a:sx n="17" d="100"/>
          <a:sy n="17" d="100"/>
        </p:scale>
        <p:origin x="1896" y="110"/>
      </p:cViewPr>
      <p:guideLst>
        <p:guide orient="horz" pos="3888"/>
        <p:guide pos="13872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10" Type="http://schemas.microsoft.com/office/2016/11/relationships/changesInfo" Target="changesInfos/changesInfo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utler, Jordan" userId="3a527b0c-ef60-4ef1-b493-e9888938e4e5" providerId="ADAL" clId="{77483B5D-C3BF-4580-A0E2-2A6418D454F2}"/>
    <pc:docChg chg="modSld">
      <pc:chgData name="Butler, Jordan" userId="3a527b0c-ef60-4ef1-b493-e9888938e4e5" providerId="ADAL" clId="{77483B5D-C3BF-4580-A0E2-2A6418D454F2}" dt="2024-11-11T17:10:54.740" v="3" actId="1036"/>
      <pc:docMkLst>
        <pc:docMk/>
      </pc:docMkLst>
      <pc:sldChg chg="modSp mod">
        <pc:chgData name="Butler, Jordan" userId="3a527b0c-ef60-4ef1-b493-e9888938e4e5" providerId="ADAL" clId="{77483B5D-C3BF-4580-A0E2-2A6418D454F2}" dt="2024-11-11T17:10:54.740" v="3" actId="1036"/>
        <pc:sldMkLst>
          <pc:docMk/>
          <pc:sldMk cId="0" sldId="256"/>
        </pc:sldMkLst>
        <pc:spChg chg="mod">
          <ac:chgData name="Butler, Jordan" userId="3a527b0c-ef60-4ef1-b493-e9888938e4e5" providerId="ADAL" clId="{77483B5D-C3BF-4580-A0E2-2A6418D454F2}" dt="2024-11-11T17:10:54.740" v="3" actId="1036"/>
          <ac:spMkLst>
            <pc:docMk/>
            <pc:sldMk cId="0" sldId="256"/>
            <ac:spMk id="48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7488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0" tIns="46580" rIns="93160" bIns="46580" numCol="1" anchor="t" anchorCtr="0" compatLnSpc="1">
            <a:prstTxWarp prst="textNoShape">
              <a:avLst/>
            </a:prstTxWarp>
          </a:bodyPr>
          <a:lstStyle>
            <a:lvl1pPr algn="l" defTabSz="931696">
              <a:lnSpc>
                <a:spcPct val="100000"/>
              </a:lnSpc>
              <a:spcBef>
                <a:spcPct val="0"/>
              </a:spcBef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68913" y="0"/>
            <a:ext cx="4027487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0" tIns="46580" rIns="93160" bIns="46580" numCol="1" anchor="t" anchorCtr="0" compatLnSpc="1">
            <a:prstTxWarp prst="textNoShape">
              <a:avLst/>
            </a:prstTxWarp>
          </a:bodyPr>
          <a:lstStyle>
            <a:lvl1pPr algn="r" defTabSz="931696">
              <a:lnSpc>
                <a:spcPct val="100000"/>
              </a:lnSpc>
              <a:spcBef>
                <a:spcPct val="0"/>
              </a:spcBef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659563"/>
            <a:ext cx="4027488" cy="35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0" tIns="46580" rIns="93160" bIns="46580" numCol="1" anchor="b" anchorCtr="0" compatLnSpc="1">
            <a:prstTxWarp prst="textNoShape">
              <a:avLst/>
            </a:prstTxWarp>
          </a:bodyPr>
          <a:lstStyle>
            <a:lvl1pPr algn="l" defTabSz="931696">
              <a:lnSpc>
                <a:spcPct val="100000"/>
              </a:lnSpc>
              <a:spcBef>
                <a:spcPct val="0"/>
              </a:spcBef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68913" y="6659563"/>
            <a:ext cx="4027487" cy="35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0" tIns="46580" rIns="93160" bIns="46580" numCol="1" anchor="b" anchorCtr="0" compatLnSpc="1">
            <a:prstTxWarp prst="textNoShape">
              <a:avLst/>
            </a:prstTxWarp>
          </a:bodyPr>
          <a:lstStyle>
            <a:lvl1pPr algn="r" defTabSz="931696">
              <a:lnSpc>
                <a:spcPct val="100000"/>
              </a:lnSpc>
              <a:spcBef>
                <a:spcPct val="0"/>
              </a:spcBef>
              <a:defRPr sz="1200" b="0"/>
            </a:lvl1pPr>
          </a:lstStyle>
          <a:p>
            <a:pPr>
              <a:defRPr/>
            </a:pPr>
            <a:fld id="{51BFBB92-9EAF-4A98-AC69-D6A49C72F0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3431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7488" cy="350838"/>
          </a:xfrm>
          <a:prstGeom prst="rect">
            <a:avLst/>
          </a:prstGeom>
        </p:spPr>
        <p:txBody>
          <a:bodyPr vert="horz" lIns="20062" tIns="10031" rIns="20062" bIns="10031" rtlCol="0"/>
          <a:lstStyle>
            <a:lvl1pPr algn="l">
              <a:defRPr sz="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738" y="0"/>
            <a:ext cx="4027487" cy="350838"/>
          </a:xfrm>
          <a:prstGeom prst="rect">
            <a:avLst/>
          </a:prstGeom>
        </p:spPr>
        <p:txBody>
          <a:bodyPr vert="horz" lIns="20062" tIns="10031" rIns="20062" bIns="10031" rtlCol="0"/>
          <a:lstStyle>
            <a:lvl1pPr algn="r">
              <a:defRPr sz="300"/>
            </a:lvl1pPr>
          </a:lstStyle>
          <a:p>
            <a:pPr>
              <a:defRPr/>
            </a:pPr>
            <a:fld id="{5CC69237-968C-4809-BBBD-9304D521757D}" type="datetimeFigureOut">
              <a:rPr lang="en-US"/>
              <a:pPr>
                <a:defRPr/>
              </a:pPr>
              <a:t>11/20/2024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95600" y="525463"/>
            <a:ext cx="3505200" cy="2628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20062" tIns="10031" rIns="20062" bIns="10031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0275" y="3328988"/>
            <a:ext cx="7435850" cy="3155950"/>
          </a:xfrm>
          <a:prstGeom prst="rect">
            <a:avLst/>
          </a:prstGeom>
        </p:spPr>
        <p:txBody>
          <a:bodyPr vert="horz" lIns="20062" tIns="10031" rIns="20062" bIns="10031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9563"/>
            <a:ext cx="4027488" cy="349250"/>
          </a:xfrm>
          <a:prstGeom prst="rect">
            <a:avLst/>
          </a:prstGeom>
        </p:spPr>
        <p:txBody>
          <a:bodyPr vert="horz" lIns="20062" tIns="10031" rIns="20062" bIns="10031" rtlCol="0" anchor="b"/>
          <a:lstStyle>
            <a:lvl1pPr algn="l">
              <a:defRPr sz="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738" y="6659563"/>
            <a:ext cx="4027487" cy="349250"/>
          </a:xfrm>
          <a:prstGeom prst="rect">
            <a:avLst/>
          </a:prstGeom>
        </p:spPr>
        <p:txBody>
          <a:bodyPr vert="horz" lIns="20062" tIns="10031" rIns="20062" bIns="10031" rtlCol="0" anchor="b"/>
          <a:lstStyle>
            <a:lvl1pPr algn="r">
              <a:defRPr sz="300"/>
            </a:lvl1pPr>
          </a:lstStyle>
          <a:p>
            <a:pPr>
              <a:defRPr/>
            </a:pPr>
            <a:fld id="{B4C89677-0636-4F7D-8E45-6997A3D618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732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41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54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54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54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54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54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7350F54E-324E-4420-A58C-1451A26E1E91}" type="slidenum">
              <a:rPr lang="en-US" sz="300" smtClean="0"/>
              <a:pPr/>
              <a:t>1</a:t>
            </a:fld>
            <a:endParaRPr lang="en-US" sz="300"/>
          </a:p>
        </p:txBody>
      </p:sp>
    </p:spTree>
    <p:extLst>
      <p:ext uri="{BB962C8B-B14F-4D97-AF65-F5344CB8AC3E}">
        <p14:creationId xmlns:p14="http://schemas.microsoft.com/office/powerpoint/2010/main" val="3565885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2475" y="10226675"/>
            <a:ext cx="37306250" cy="70548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363" y="18653125"/>
            <a:ext cx="30724475" cy="84137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CE9746-3E67-4984-B2FE-1AF1BA1634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123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E4A587-5FAF-42E6-BE45-17C25F99A9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991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0" y="21153438"/>
            <a:ext cx="37307838" cy="653732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0" y="13952538"/>
            <a:ext cx="37307838" cy="72009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88EA6C-4A5C-449A-8168-A4D2F9419E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391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90888" y="9510713"/>
            <a:ext cx="18578512" cy="197500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21800" y="9510713"/>
            <a:ext cx="18578513" cy="197500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B4A3CC-8336-4978-A66C-FB77D18E1F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491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3925" y="1317625"/>
            <a:ext cx="39503350" cy="5486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3925" y="7369175"/>
            <a:ext cx="19392900" cy="30702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3925" y="10439400"/>
            <a:ext cx="19392900" cy="189658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438" y="7369175"/>
            <a:ext cx="19400837" cy="30702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438" y="10439400"/>
            <a:ext cx="19400837" cy="189658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08A453-5BDB-4A82-A97B-AE3AC9DF93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22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E6625C-FC05-44C9-AD1B-5BE1C448AF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692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0A2B76-BBD0-4131-9F1A-F9B85BA33A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85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3925" y="1311275"/>
            <a:ext cx="14439900" cy="557688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875" y="1311275"/>
            <a:ext cx="24536400" cy="280939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3925" y="6888163"/>
            <a:ext cx="14439900" cy="225171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80D8EB-A991-429A-9F15-1E50507113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271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663" y="23042563"/>
            <a:ext cx="26335037" cy="27209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663" y="2941638"/>
            <a:ext cx="26335037" cy="197500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663" y="25763538"/>
            <a:ext cx="26335037" cy="38623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6D1F85-FC8E-4B63-A86C-FC56C2C366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119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F46AF8-960E-4160-8BB5-686F276EDF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104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273750" y="2924175"/>
            <a:ext cx="9326563" cy="263366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90888" y="2924175"/>
            <a:ext cx="27830462" cy="263366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589B9D-719E-42D8-8020-085B69862E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24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290888" y="2924175"/>
            <a:ext cx="37309425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38884" tIns="219442" rIns="438884" bIns="21944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90888" y="9510713"/>
            <a:ext cx="37309425" cy="1975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38884" tIns="219442" rIns="438884" bIns="21944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290888" y="29994225"/>
            <a:ext cx="9144000" cy="219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38884" tIns="219442" rIns="438884" bIns="219442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ct val="0"/>
              </a:spcBef>
              <a:defRPr sz="67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997113" y="29994225"/>
            <a:ext cx="13896975" cy="219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38884" tIns="219442" rIns="438884" bIns="219442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defRPr sz="67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1456313" y="29994225"/>
            <a:ext cx="9144000" cy="219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38884" tIns="219442" rIns="438884" bIns="219442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sz="6700" b="0"/>
            </a:lvl1pPr>
          </a:lstStyle>
          <a:p>
            <a:pPr>
              <a:defRPr/>
            </a:pPr>
            <a:fld id="{3288BF25-8EA1-41D0-B1F3-3529260375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387850" rtl="0" eaLnBrk="0" fontAlgn="base" hangingPunct="0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+mj-lt"/>
          <a:ea typeface="+mj-ea"/>
          <a:cs typeface="+mj-cs"/>
        </a:defRPr>
      </a:lvl1pPr>
      <a:lvl2pPr algn="ctr" defTabSz="4387850" rtl="0" eaLnBrk="0" fontAlgn="base" hangingPunct="0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Times New Roman" pitchFamily="18" charset="0"/>
        </a:defRPr>
      </a:lvl2pPr>
      <a:lvl3pPr algn="ctr" defTabSz="4387850" rtl="0" eaLnBrk="0" fontAlgn="base" hangingPunct="0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Times New Roman" pitchFamily="18" charset="0"/>
        </a:defRPr>
      </a:lvl3pPr>
      <a:lvl4pPr algn="ctr" defTabSz="4387850" rtl="0" eaLnBrk="0" fontAlgn="base" hangingPunct="0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Times New Roman" pitchFamily="18" charset="0"/>
        </a:defRPr>
      </a:lvl4pPr>
      <a:lvl5pPr algn="ctr" defTabSz="4387850" rtl="0" eaLnBrk="0" fontAlgn="base" hangingPunct="0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Times New Roman" pitchFamily="18" charset="0"/>
        </a:defRPr>
      </a:lvl5pPr>
      <a:lvl6pPr marL="457200" algn="ctr" defTabSz="4387850" rtl="0" eaLnBrk="0" fontAlgn="base" hangingPunct="0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Times New Roman" pitchFamily="18" charset="0"/>
        </a:defRPr>
      </a:lvl6pPr>
      <a:lvl7pPr marL="914400" algn="ctr" defTabSz="4387850" rtl="0" eaLnBrk="0" fontAlgn="base" hangingPunct="0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Times New Roman" pitchFamily="18" charset="0"/>
        </a:defRPr>
      </a:lvl7pPr>
      <a:lvl8pPr marL="1371600" algn="ctr" defTabSz="4387850" rtl="0" eaLnBrk="0" fontAlgn="base" hangingPunct="0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Times New Roman" pitchFamily="18" charset="0"/>
        </a:defRPr>
      </a:lvl8pPr>
      <a:lvl9pPr marL="1828800" algn="ctr" defTabSz="4387850" rtl="0" eaLnBrk="0" fontAlgn="base" hangingPunct="0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Times New Roman" pitchFamily="18" charset="0"/>
        </a:defRPr>
      </a:lvl9pPr>
    </p:titleStyle>
    <p:bodyStyle>
      <a:lvl1pPr marL="1647825" indent="-1647825" algn="l" defTabSz="4387850" rtl="0" eaLnBrk="0" fontAlgn="base" hangingPunct="0">
        <a:spcBef>
          <a:spcPct val="20000"/>
        </a:spcBef>
        <a:spcAft>
          <a:spcPct val="0"/>
        </a:spcAft>
        <a:buChar char="•"/>
        <a:defRPr sz="15300">
          <a:solidFill>
            <a:schemeClr val="tx1"/>
          </a:solidFill>
          <a:latin typeface="+mn-lt"/>
          <a:ea typeface="+mn-ea"/>
          <a:cs typeface="+mn-cs"/>
        </a:defRPr>
      </a:lvl1pPr>
      <a:lvl2pPr marL="3565525" indent="-1370013" algn="l" defTabSz="4387850" rtl="0" eaLnBrk="0" fontAlgn="base" hangingPunct="0">
        <a:spcBef>
          <a:spcPct val="20000"/>
        </a:spcBef>
        <a:spcAft>
          <a:spcPct val="0"/>
        </a:spcAft>
        <a:buChar char="–"/>
        <a:defRPr sz="13300">
          <a:solidFill>
            <a:schemeClr val="tx1"/>
          </a:solidFill>
          <a:latin typeface="+mn-lt"/>
        </a:defRPr>
      </a:lvl2pPr>
      <a:lvl3pPr marL="5486400" indent="-1098550" algn="l" defTabSz="4387850" rtl="0" eaLnBrk="0" fontAlgn="base" hangingPunct="0">
        <a:spcBef>
          <a:spcPct val="20000"/>
        </a:spcBef>
        <a:spcAft>
          <a:spcPct val="0"/>
        </a:spcAft>
        <a:buChar char="•"/>
        <a:defRPr sz="11600">
          <a:solidFill>
            <a:schemeClr val="tx1"/>
          </a:solidFill>
          <a:latin typeface="+mn-lt"/>
        </a:defRPr>
      </a:lvl3pPr>
      <a:lvl4pPr marL="7678738" indent="-1093788" algn="l" defTabSz="4387850" rtl="0" eaLnBrk="0" fontAlgn="base" hangingPunct="0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</a:defRPr>
      </a:lvl4pPr>
      <a:lvl5pPr marL="9875838" indent="-1098550" algn="l" defTabSz="4387850" rtl="0" eaLnBrk="0" fontAlgn="base" hangingPunct="0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</a:defRPr>
      </a:lvl5pPr>
      <a:lvl6pPr marL="10333038" indent="-1098550" algn="l" defTabSz="4387850" rtl="0" eaLnBrk="0" fontAlgn="base" hangingPunct="0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</a:defRPr>
      </a:lvl6pPr>
      <a:lvl7pPr marL="10790238" indent="-1098550" algn="l" defTabSz="4387850" rtl="0" eaLnBrk="0" fontAlgn="base" hangingPunct="0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</a:defRPr>
      </a:lvl7pPr>
      <a:lvl8pPr marL="11247438" indent="-1098550" algn="l" defTabSz="4387850" rtl="0" eaLnBrk="0" fontAlgn="base" hangingPunct="0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</a:defRPr>
      </a:lvl8pPr>
      <a:lvl9pPr marL="11704638" indent="-1098550" algn="l" defTabSz="4387850" rtl="0" eaLnBrk="0" fontAlgn="base" hangingPunct="0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7277100" y="4062622"/>
            <a:ext cx="29337000" cy="585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25903" tIns="112951" rIns="225903" bIns="112951">
            <a:spAutoFit/>
          </a:bodyPr>
          <a:lstStyle>
            <a:lvl1pPr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defTabSz="2259013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defTabSz="2259013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defTabSz="2259013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defTabSz="2259013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60000"/>
              </a:lnSpc>
            </a:pPr>
            <a:r>
              <a:rPr lang="en-US" sz="3600" b="0" dirty="0"/>
              <a:t>Dr. Austin Brown</a:t>
            </a:r>
          </a:p>
        </p:txBody>
      </p:sp>
      <p:sp>
        <p:nvSpPr>
          <p:cNvPr id="1033" name="Rectangle 51"/>
          <p:cNvSpPr>
            <a:spLocks noChangeArrowheads="1"/>
          </p:cNvSpPr>
          <p:nvPr/>
        </p:nvSpPr>
        <p:spPr bwMode="auto">
          <a:xfrm>
            <a:off x="2147483647" y="2147483647"/>
            <a:ext cx="2147482688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25903" tIns="112951" rIns="225903" bIns="112951">
            <a:spAutoFit/>
          </a:bodyPr>
          <a:lstStyle/>
          <a:p>
            <a:pPr algn="l" defTabSz="2259013">
              <a:lnSpc>
                <a:spcPct val="100000"/>
              </a:lnSpc>
              <a:spcBef>
                <a:spcPct val="0"/>
              </a:spcBef>
            </a:pPr>
            <a:r>
              <a:rPr lang="en-US" sz="7700" b="0"/>
              <a:t> </a:t>
            </a:r>
            <a:endParaRPr lang="en-US" sz="5900" b="0"/>
          </a:p>
        </p:txBody>
      </p:sp>
      <p:sp>
        <p:nvSpPr>
          <p:cNvPr id="1036" name="Text Box 89"/>
          <p:cNvSpPr txBox="1">
            <a:spLocks noChangeArrowheads="1"/>
          </p:cNvSpPr>
          <p:nvPr/>
        </p:nvSpPr>
        <p:spPr bwMode="auto">
          <a:xfrm>
            <a:off x="18619788" y="1143000"/>
            <a:ext cx="631825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25903" tIns="112951" rIns="225903" bIns="112951">
            <a:spAutoFit/>
          </a:bodyPr>
          <a:lstStyle>
            <a:lvl1pPr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defTabSz="2259013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defTabSz="2259013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defTabSz="2259013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defTabSz="2259013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/>
          </a:p>
        </p:txBody>
      </p:sp>
      <p:sp>
        <p:nvSpPr>
          <p:cNvPr id="1037" name="Rectangle 90"/>
          <p:cNvSpPr>
            <a:spLocks noChangeArrowheads="1"/>
          </p:cNvSpPr>
          <p:nvPr/>
        </p:nvSpPr>
        <p:spPr bwMode="auto">
          <a:xfrm>
            <a:off x="9525000" y="275511"/>
            <a:ext cx="25151556" cy="3048000"/>
          </a:xfrm>
          <a:prstGeom prst="rect">
            <a:avLst/>
          </a:prstGeom>
          <a:solidFill>
            <a:srgbClr val="F5CB2E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25903" tIns="112951" rIns="225903" bIns="112951" anchor="ctr">
            <a:noAutofit/>
          </a:bodyPr>
          <a:lstStyle/>
          <a:p>
            <a:pPr defTabSz="2259013">
              <a:lnSpc>
                <a:spcPct val="100000"/>
              </a:lnSpc>
              <a:spcBef>
                <a:spcPts val="0"/>
              </a:spcBef>
            </a:pPr>
            <a:r>
              <a:rPr lang="en-US" sz="6600" b="0" dirty="0"/>
              <a:t>How to Beat Vegas Using Tree-Based Models</a:t>
            </a:r>
          </a:p>
          <a:p>
            <a:pPr defTabSz="2259013">
              <a:lnSpc>
                <a:spcPct val="100000"/>
              </a:lnSpc>
              <a:spcBef>
                <a:spcPts val="0"/>
              </a:spcBef>
            </a:pPr>
            <a:r>
              <a:rPr lang="en-US" b="0" dirty="0"/>
              <a:t>Jordan Butler – Spring 2026</a:t>
            </a:r>
          </a:p>
        </p:txBody>
      </p:sp>
      <p:sp>
        <p:nvSpPr>
          <p:cNvPr id="1039" name="Text Box 729"/>
          <p:cNvSpPr txBox="1">
            <a:spLocks noChangeArrowheads="1"/>
          </p:cNvSpPr>
          <p:nvPr/>
        </p:nvSpPr>
        <p:spPr bwMode="auto">
          <a:xfrm>
            <a:off x="15240000" y="9448800"/>
            <a:ext cx="2327275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25903" tIns="112951" rIns="225903" bIns="112951">
            <a:spAutoFit/>
          </a:bodyPr>
          <a:lstStyle>
            <a:lvl1pPr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defTabSz="2259013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defTabSz="2259013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defTabSz="2259013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defTabSz="2259013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/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457200" y="10515600"/>
            <a:ext cx="10896600" cy="8233561"/>
            <a:chOff x="381000" y="11893074"/>
            <a:chExt cx="10896600" cy="8233561"/>
          </a:xfrm>
        </p:grpSpPr>
        <p:sp>
          <p:nvSpPr>
            <p:cNvPr id="1031" name="Text Box 15"/>
            <p:cNvSpPr txBox="1">
              <a:spLocks noChangeArrowheads="1"/>
            </p:cNvSpPr>
            <p:nvPr/>
          </p:nvSpPr>
          <p:spPr bwMode="auto">
            <a:xfrm>
              <a:off x="381000" y="11893074"/>
              <a:ext cx="10811330" cy="984726"/>
            </a:xfrm>
            <a:prstGeom prst="rect">
              <a:avLst/>
            </a:prstGeom>
            <a:solidFill>
              <a:srgbClr val="F5CB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225903" tIns="112951" rIns="225903" bIns="112951" anchor="ctr">
              <a:spAutoFit/>
            </a:bodyPr>
            <a:lstStyle>
              <a:lvl1pPr defTabSz="2259013"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defTabSz="2259013"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defTabSz="2259013"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defTabSz="2259013"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defTabSz="2259013"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defTabSz="2259013" eaLnBrk="0" fontAlgn="base" hangingPunct="0">
                <a:lnSpc>
                  <a:spcPct val="65000"/>
                </a:lnSpc>
                <a:spcBef>
                  <a:spcPct val="50000"/>
                </a:spcBef>
                <a:spcAft>
                  <a:spcPct val="0"/>
                </a:spcAft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defTabSz="2259013" eaLnBrk="0" fontAlgn="base" hangingPunct="0">
                <a:lnSpc>
                  <a:spcPct val="65000"/>
                </a:lnSpc>
                <a:spcBef>
                  <a:spcPct val="50000"/>
                </a:spcBef>
                <a:spcAft>
                  <a:spcPct val="0"/>
                </a:spcAft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defTabSz="2259013" eaLnBrk="0" fontAlgn="base" hangingPunct="0">
                <a:lnSpc>
                  <a:spcPct val="65000"/>
                </a:lnSpc>
                <a:spcBef>
                  <a:spcPct val="50000"/>
                </a:spcBef>
                <a:spcAft>
                  <a:spcPct val="0"/>
                </a:spcAft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defTabSz="2259013" eaLnBrk="0" fontAlgn="base" hangingPunct="0">
                <a:lnSpc>
                  <a:spcPct val="65000"/>
                </a:lnSpc>
                <a:spcBef>
                  <a:spcPct val="50000"/>
                </a:spcBef>
                <a:spcAft>
                  <a:spcPct val="0"/>
                </a:spcAft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sz="5900" dirty="0"/>
                <a:t>METHODS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57200" y="13109329"/>
              <a:ext cx="10820400" cy="70173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 algn="l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2900" b="0" dirty="0"/>
                <a:t>Tree-based models</a:t>
              </a:r>
            </a:p>
            <a:p>
              <a:pPr marL="914400" lvl="1" indent="-457200" algn="l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2900" b="0" dirty="0"/>
                <a:t>Type of supervised learning algorithm</a:t>
              </a:r>
            </a:p>
            <a:p>
              <a:pPr marL="914400" lvl="1" indent="-457200" algn="l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2900" b="0" dirty="0"/>
                <a:t>Splits data at various nodes, each branch represents a different decision/factor level, follow line of branches down the tree to arrive at result/final decision</a:t>
              </a:r>
            </a:p>
            <a:p>
              <a:pPr marL="457200" indent="-457200" algn="l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2900" b="0" dirty="0"/>
                <a:t>Random Forest model</a:t>
              </a:r>
            </a:p>
            <a:p>
              <a:pPr marL="914400" lvl="1" indent="-457200" algn="l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2900" b="0" dirty="0"/>
                <a:t>Bagging algorithm, Splits data randomly into different subsets</a:t>
              </a:r>
            </a:p>
            <a:p>
              <a:pPr marL="914400" lvl="1" indent="-457200" algn="l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2900" b="0" dirty="0"/>
                <a:t>Each node includes random subset of decisions/factor levels</a:t>
              </a:r>
            </a:p>
            <a:p>
              <a:pPr marL="914400" lvl="1" indent="-457200" algn="l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2900" b="0" dirty="0"/>
                <a:t>Final branch of each original subset is 1 prediction of response variable, avg of all final branches = situational prediction</a:t>
              </a:r>
            </a:p>
            <a:p>
              <a:pPr marL="457200" indent="-457200" algn="l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2900" b="0" dirty="0"/>
                <a:t>XGBoost</a:t>
              </a:r>
            </a:p>
            <a:p>
              <a:pPr marL="914400" lvl="1" indent="-457200" algn="l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2900" b="0" dirty="0"/>
                <a:t>Gradient boosting algorithm, trees are built one after another rather than independently, each tree builds on result of previous</a:t>
              </a:r>
            </a:p>
            <a:p>
              <a:pPr marL="914400" lvl="1" indent="-457200" algn="l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2900" b="0" dirty="0"/>
                <a:t>Predictions are aggregated along the way rather than only being compiled at the end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81000" y="3811640"/>
            <a:ext cx="43120130" cy="7770760"/>
            <a:chOff x="381000" y="3810000"/>
            <a:chExt cx="43120130" cy="8664277"/>
          </a:xfrm>
        </p:grpSpPr>
        <p:sp>
          <p:nvSpPr>
            <p:cNvPr id="48" name="TextBox 47"/>
            <p:cNvSpPr txBox="1"/>
            <p:nvPr/>
          </p:nvSpPr>
          <p:spPr>
            <a:xfrm>
              <a:off x="457200" y="4976098"/>
              <a:ext cx="10744200" cy="74981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 algn="l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3200" b="0" dirty="0"/>
                <a:t>American Sports Betting Industry 2023: $10.92B profit</a:t>
              </a:r>
            </a:p>
            <a:p>
              <a:pPr marL="457200" indent="-457200" algn="l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3200" b="0" dirty="0"/>
                <a:t>Only 3-4% of sports bettors profit long term</a:t>
              </a:r>
            </a:p>
            <a:p>
              <a:pPr marL="457200" indent="-457200" algn="l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3200" b="0" dirty="0"/>
                <a:t>Parlays = lottery/gambling, risk gained from “all or nothing” &gt; added profit vs taking legs individually</a:t>
              </a:r>
            </a:p>
            <a:p>
              <a:pPr marL="457200" indent="-457200" algn="l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3200" b="0" dirty="0"/>
                <a:t>Most popular straight bets: Over/Under and Spread</a:t>
              </a:r>
            </a:p>
            <a:p>
              <a:pPr marL="914400" lvl="1" indent="-457200" algn="l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3200" b="0" dirty="0"/>
                <a:t>-110 odds on these give sportsbooks an inherent 4.76% house edge (-110 = implied probability of 52.38%, actual probability is an even 50%, O/U sometimes slightly less)</a:t>
              </a:r>
            </a:p>
            <a:p>
              <a:pPr marL="457200" indent="-457200" algn="l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3200" b="0" dirty="0"/>
                <a:t>Contrary to popular belief, you CAN consistently make money betting on sports… and it’s all made possible by the power of statistical modeling</a:t>
              </a:r>
            </a:p>
            <a:p>
              <a:pPr marL="457200" indent="-457200" algn="l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endParaRPr lang="en-US" sz="3200" b="0" dirty="0"/>
            </a:p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endParaRPr lang="en-US" sz="3200" b="0" dirty="0"/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381000" y="3810000"/>
              <a:ext cx="43120130" cy="990600"/>
              <a:chOff x="381000" y="3810000"/>
              <a:chExt cx="43120130" cy="990600"/>
            </a:xfrm>
          </p:grpSpPr>
          <p:sp>
            <p:nvSpPr>
              <p:cNvPr id="1030" name="Text Box 12"/>
              <p:cNvSpPr txBox="1">
                <a:spLocks noChangeArrowheads="1"/>
              </p:cNvSpPr>
              <p:nvPr/>
            </p:nvSpPr>
            <p:spPr bwMode="auto">
              <a:xfrm>
                <a:off x="381000" y="3815874"/>
                <a:ext cx="10818004" cy="984726"/>
              </a:xfrm>
              <a:prstGeom prst="rect">
                <a:avLst/>
              </a:prstGeom>
              <a:solidFill>
                <a:srgbClr val="F5CB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225903" tIns="112951" rIns="225903" bIns="112951" anchor="ctr">
                <a:spAutoFit/>
              </a:bodyPr>
              <a:lstStyle>
                <a:lvl1pPr defTabSz="2259013"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defTabSz="2259013"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defTabSz="2259013"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defTabSz="2259013"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defTabSz="2259013"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defTabSz="2259013" eaLnBrk="0" fontAlgn="base" hangingPunct="0">
                  <a:lnSpc>
                    <a:spcPct val="65000"/>
                  </a:lnSpc>
                  <a:spcBef>
                    <a:spcPct val="50000"/>
                  </a:spcBef>
                  <a:spcAft>
                    <a:spcPct val="0"/>
                  </a:spcAft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defTabSz="2259013" eaLnBrk="0" fontAlgn="base" hangingPunct="0">
                  <a:lnSpc>
                    <a:spcPct val="65000"/>
                  </a:lnSpc>
                  <a:spcBef>
                    <a:spcPct val="50000"/>
                  </a:spcBef>
                  <a:spcAft>
                    <a:spcPct val="0"/>
                  </a:spcAft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defTabSz="2259013" eaLnBrk="0" fontAlgn="base" hangingPunct="0">
                  <a:lnSpc>
                    <a:spcPct val="65000"/>
                  </a:lnSpc>
                  <a:spcBef>
                    <a:spcPct val="50000"/>
                  </a:spcBef>
                  <a:spcAft>
                    <a:spcPct val="0"/>
                  </a:spcAft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defTabSz="2259013" eaLnBrk="0" fontAlgn="base" hangingPunct="0">
                  <a:lnSpc>
                    <a:spcPct val="65000"/>
                  </a:lnSpc>
                  <a:spcBef>
                    <a:spcPct val="50000"/>
                  </a:spcBef>
                  <a:spcAft>
                    <a:spcPct val="0"/>
                  </a:spcAft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lnSpc>
                    <a:spcPct val="80000"/>
                  </a:lnSpc>
                </a:pPr>
                <a:r>
                  <a:rPr lang="en-US" sz="5900" dirty="0"/>
                  <a:t>INTRODUCTION</a:t>
                </a:r>
              </a:p>
            </p:txBody>
          </p:sp>
          <p:sp>
            <p:nvSpPr>
              <p:cNvPr id="26" name="Text Box 18"/>
              <p:cNvSpPr txBox="1">
                <a:spLocks noChangeArrowheads="1"/>
              </p:cNvSpPr>
              <p:nvPr/>
            </p:nvSpPr>
            <p:spPr bwMode="auto">
              <a:xfrm>
                <a:off x="32689800" y="3810000"/>
                <a:ext cx="10811330" cy="984726"/>
              </a:xfrm>
              <a:prstGeom prst="rect">
                <a:avLst/>
              </a:prstGeom>
              <a:solidFill>
                <a:srgbClr val="F5CB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225903" tIns="112951" rIns="225903" bIns="112951" anchor="ctr">
                <a:spAutoFit/>
              </a:bodyPr>
              <a:lstStyle>
                <a:lvl1pPr defTabSz="2259013"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defTabSz="2259013"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defTabSz="2259013"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defTabSz="2259013"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defTabSz="2259013"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defTabSz="2259013" eaLnBrk="0" fontAlgn="base" hangingPunct="0">
                  <a:lnSpc>
                    <a:spcPct val="65000"/>
                  </a:lnSpc>
                  <a:spcBef>
                    <a:spcPct val="50000"/>
                  </a:spcBef>
                  <a:spcAft>
                    <a:spcPct val="0"/>
                  </a:spcAft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defTabSz="2259013" eaLnBrk="0" fontAlgn="base" hangingPunct="0">
                  <a:lnSpc>
                    <a:spcPct val="65000"/>
                  </a:lnSpc>
                  <a:spcBef>
                    <a:spcPct val="50000"/>
                  </a:spcBef>
                  <a:spcAft>
                    <a:spcPct val="0"/>
                  </a:spcAft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defTabSz="2259013" eaLnBrk="0" fontAlgn="base" hangingPunct="0">
                  <a:lnSpc>
                    <a:spcPct val="65000"/>
                  </a:lnSpc>
                  <a:spcBef>
                    <a:spcPct val="50000"/>
                  </a:spcBef>
                  <a:spcAft>
                    <a:spcPct val="0"/>
                  </a:spcAft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defTabSz="2259013" eaLnBrk="0" fontAlgn="base" hangingPunct="0">
                  <a:lnSpc>
                    <a:spcPct val="65000"/>
                  </a:lnSpc>
                  <a:spcBef>
                    <a:spcPct val="50000"/>
                  </a:spcBef>
                  <a:spcAft>
                    <a:spcPct val="0"/>
                  </a:spcAft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lnSpc>
                    <a:spcPct val="80000"/>
                  </a:lnSpc>
                </a:pPr>
                <a:r>
                  <a:rPr lang="en-US" sz="5900" dirty="0"/>
                  <a:t>DISCUSSION</a:t>
                </a:r>
              </a:p>
            </p:txBody>
          </p:sp>
        </p:grpSp>
      </p:grpSp>
      <p:sp>
        <p:nvSpPr>
          <p:cNvPr id="50" name="TextBox 49"/>
          <p:cNvSpPr txBox="1"/>
          <p:nvPr/>
        </p:nvSpPr>
        <p:spPr>
          <a:xfrm>
            <a:off x="32842200" y="4794726"/>
            <a:ext cx="10744200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200" b="0" dirty="0"/>
              <a:t>nflfastR: r package dataset containing 300+ attributes of data for every play in the NFL since 1999 (2 million+ rows)</a:t>
            </a: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200" b="0" dirty="0"/>
              <a:t>Training data: 2003-2022, testing data: 2023</a:t>
            </a: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200" b="0" dirty="0"/>
              <a:t>Game detail variables: roof, surface, weather, div_game, etc.</a:t>
            </a: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200" b="0" dirty="0"/>
              <a:t>Team skill ranking metrics: epa, wpa</a:t>
            </a: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200" b="0" dirty="0"/>
              <a:t>Betting metrics: spread, over/under</a:t>
            </a: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200" b="0" dirty="0"/>
              <a:t>Response variables (created): difference (delta) between predicted total points / spread vs actual</a:t>
            </a:r>
          </a:p>
          <a:p>
            <a:pPr marL="914400" lvl="1" indent="-45720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200" b="0" dirty="0"/>
              <a:t>Importance in being able to measure delta vs categorical response (bet over, bet home spread, etc.), allows easier threshold decisions for weighted betting</a:t>
            </a: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200" b="0" dirty="0"/>
              <a:t>Similarities to counting cards in blackjack, beating casino in various other games, sports betting not as easily cracked down on</a:t>
            </a:r>
          </a:p>
          <a:p>
            <a:pPr marL="914400" lvl="1" indent="-45720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200" b="0" dirty="0"/>
              <a:t>Thresholds/true count, weighted betting increments, etc.</a:t>
            </a: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200" b="0" dirty="0"/>
              <a:t>Higher win $ doesn’t always equal higher net win %</a:t>
            </a:r>
          </a:p>
          <a:p>
            <a:pPr marL="914400" lvl="1" indent="-45720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200" b="0" dirty="0"/>
              <a:t>At what point does being TOO picky with bets hurt you?</a:t>
            </a:r>
          </a:p>
          <a:p>
            <a:pPr marL="914400" lvl="1" indent="-45720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200" b="0" dirty="0"/>
              <a:t>EV (Expected Value)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32613600" y="13868400"/>
            <a:ext cx="11277600" cy="13528160"/>
            <a:chOff x="32613600" y="23551674"/>
            <a:chExt cx="11277600" cy="13528160"/>
          </a:xfrm>
        </p:grpSpPr>
        <p:sp>
          <p:nvSpPr>
            <p:cNvPr id="1032" name="Text Box 18"/>
            <p:cNvSpPr txBox="1">
              <a:spLocks noChangeArrowheads="1"/>
            </p:cNvSpPr>
            <p:nvPr/>
          </p:nvSpPr>
          <p:spPr bwMode="auto">
            <a:xfrm>
              <a:off x="32689800" y="23551674"/>
              <a:ext cx="10820400" cy="984726"/>
            </a:xfrm>
            <a:prstGeom prst="rect">
              <a:avLst/>
            </a:prstGeom>
            <a:solidFill>
              <a:srgbClr val="F5CB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225903" tIns="112951" rIns="225903" bIns="112951" anchor="ctr">
              <a:spAutoFit/>
            </a:bodyPr>
            <a:lstStyle>
              <a:lvl1pPr defTabSz="2259013"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defTabSz="2259013"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defTabSz="2259013"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defTabSz="2259013"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defTabSz="2259013"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defTabSz="2259013" eaLnBrk="0" fontAlgn="base" hangingPunct="0">
                <a:lnSpc>
                  <a:spcPct val="65000"/>
                </a:lnSpc>
                <a:spcBef>
                  <a:spcPct val="50000"/>
                </a:spcBef>
                <a:spcAft>
                  <a:spcPct val="0"/>
                </a:spcAft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defTabSz="2259013" eaLnBrk="0" fontAlgn="base" hangingPunct="0">
                <a:lnSpc>
                  <a:spcPct val="65000"/>
                </a:lnSpc>
                <a:spcBef>
                  <a:spcPct val="50000"/>
                </a:spcBef>
                <a:spcAft>
                  <a:spcPct val="0"/>
                </a:spcAft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defTabSz="2259013" eaLnBrk="0" fontAlgn="base" hangingPunct="0">
                <a:lnSpc>
                  <a:spcPct val="65000"/>
                </a:lnSpc>
                <a:spcBef>
                  <a:spcPct val="50000"/>
                </a:spcBef>
                <a:spcAft>
                  <a:spcPct val="0"/>
                </a:spcAft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defTabSz="2259013" eaLnBrk="0" fontAlgn="base" hangingPunct="0">
                <a:lnSpc>
                  <a:spcPct val="65000"/>
                </a:lnSpc>
                <a:spcBef>
                  <a:spcPct val="50000"/>
                </a:spcBef>
                <a:spcAft>
                  <a:spcPct val="0"/>
                </a:spcAft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sz="5900" dirty="0"/>
                <a:t>R CODE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613600" y="24536400"/>
              <a:ext cx="11277600" cy="12543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</a:pPr>
              <a:endParaRPr lang="en-US" sz="3100" b="0" dirty="0">
                <a:latin typeface="+mj-lt"/>
              </a:endParaRPr>
            </a:p>
            <a:p>
              <a:pPr algn="l">
                <a:lnSpc>
                  <a:spcPct val="90000"/>
                </a:lnSpc>
                <a:spcBef>
                  <a:spcPts val="0"/>
                </a:spcBef>
              </a:pPr>
              <a:r>
                <a:rPr lang="en-US" sz="3100" b="0" dirty="0">
                  <a:latin typeface="+mj-lt"/>
                </a:rPr>
                <a:t>## Random Forest Model – OU</a:t>
              </a:r>
            </a:p>
            <a:p>
              <a:pPr algn="l">
                <a:lnSpc>
                  <a:spcPct val="90000"/>
                </a:lnSpc>
                <a:spcBef>
                  <a:spcPts val="0"/>
                </a:spcBef>
              </a:pPr>
              <a:r>
                <a:rPr lang="en-US" sz="3100" b="0" dirty="0">
                  <a:latin typeface="+mj-lt"/>
                </a:rPr>
                <a:t>set.seed(123)</a:t>
              </a:r>
            </a:p>
            <a:p>
              <a:pPr algn="l">
                <a:lnSpc>
                  <a:spcPct val="90000"/>
                </a:lnSpc>
                <a:spcBef>
                  <a:spcPts val="0"/>
                </a:spcBef>
              </a:pPr>
              <a:endParaRPr lang="en-US" sz="3100" b="0" dirty="0">
                <a:latin typeface="+mj-lt"/>
              </a:endParaRPr>
            </a:p>
            <a:p>
              <a:pPr algn="l">
                <a:lnSpc>
                  <a:spcPct val="90000"/>
                </a:lnSpc>
                <a:spcBef>
                  <a:spcPts val="0"/>
                </a:spcBef>
              </a:pPr>
              <a:r>
                <a:rPr lang="en-US" sz="3100" b="0" dirty="0">
                  <a:latin typeface="+mj-lt"/>
                </a:rPr>
                <a:t>RFM_OU = randomForest(total_delta ~ ., data = full_data_ou)</a:t>
              </a:r>
            </a:p>
            <a:p>
              <a:pPr algn="l">
                <a:lnSpc>
                  <a:spcPct val="90000"/>
                </a:lnSpc>
                <a:spcBef>
                  <a:spcPts val="0"/>
                </a:spcBef>
              </a:pPr>
              <a:endParaRPr lang="en-US" sz="3100" b="0" dirty="0">
                <a:latin typeface="+mj-lt"/>
              </a:endParaRPr>
            </a:p>
            <a:p>
              <a:pPr algn="l">
                <a:lnSpc>
                  <a:spcPct val="90000"/>
                </a:lnSpc>
                <a:spcBef>
                  <a:spcPts val="0"/>
                </a:spcBef>
              </a:pPr>
              <a:r>
                <a:rPr lang="en-US" sz="3100" b="0" dirty="0">
                  <a:latin typeface="+mj-lt"/>
                </a:rPr>
                <a:t># Evaluating Model Accuracy</a:t>
              </a:r>
            </a:p>
            <a:p>
              <a:pPr algn="l">
                <a:lnSpc>
                  <a:spcPct val="90000"/>
                </a:lnSpc>
                <a:spcBef>
                  <a:spcPts val="0"/>
                </a:spcBef>
              </a:pPr>
              <a:r>
                <a:rPr lang="en-US" sz="3100" b="0" dirty="0">
                  <a:latin typeface="+mj-lt"/>
                </a:rPr>
                <a:t>total_delta_pred = predict(RFM_OU, schedule_ou)</a:t>
              </a:r>
            </a:p>
            <a:p>
              <a:pPr algn="l">
                <a:lnSpc>
                  <a:spcPct val="90000"/>
                </a:lnSpc>
                <a:spcBef>
                  <a:spcPts val="0"/>
                </a:spcBef>
              </a:pPr>
              <a:r>
                <a:rPr lang="en-US" sz="3100" b="0" dirty="0">
                  <a:latin typeface="+mj-lt"/>
                </a:rPr>
                <a:t>schedule_ou$total_delta_pred = round(total_delta_pred,3)View(schedule_ou)</a:t>
              </a:r>
            </a:p>
            <a:p>
              <a:pPr algn="l">
                <a:lnSpc>
                  <a:spcPct val="90000"/>
                </a:lnSpc>
                <a:spcBef>
                  <a:spcPts val="0"/>
                </a:spcBef>
              </a:pPr>
              <a:endParaRPr lang="en-US" sz="3100" b="0" dirty="0">
                <a:latin typeface="+mj-lt"/>
              </a:endParaRPr>
            </a:p>
            <a:p>
              <a:pPr algn="l">
                <a:lnSpc>
                  <a:spcPct val="90000"/>
                </a:lnSpc>
                <a:spcBef>
                  <a:spcPts val="0"/>
                </a:spcBef>
              </a:pPr>
              <a:r>
                <a:rPr lang="en-US" sz="3100" b="0" dirty="0">
                  <a:latin typeface="+mj-lt"/>
                </a:rPr>
                <a:t>## XG BOOST OU MODEL</a:t>
              </a:r>
            </a:p>
            <a:p>
              <a:pPr algn="l">
                <a:lnSpc>
                  <a:spcPct val="90000"/>
                </a:lnSpc>
                <a:spcBef>
                  <a:spcPts val="0"/>
                </a:spcBef>
              </a:pPr>
              <a:r>
                <a:rPr lang="en-US" sz="3100" b="0" dirty="0">
                  <a:latin typeface="+mj-lt"/>
                </a:rPr>
                <a:t>set.seed(123)</a:t>
              </a:r>
            </a:p>
            <a:p>
              <a:pPr algn="l">
                <a:lnSpc>
                  <a:spcPct val="90000"/>
                </a:lnSpc>
                <a:spcBef>
                  <a:spcPts val="0"/>
                </a:spcBef>
              </a:pPr>
              <a:endParaRPr lang="en-US" sz="3100" b="0" dirty="0">
                <a:latin typeface="+mj-lt"/>
              </a:endParaRPr>
            </a:p>
            <a:p>
              <a:pPr algn="l">
                <a:lnSpc>
                  <a:spcPct val="90000"/>
                </a:lnSpc>
                <a:spcBef>
                  <a:spcPts val="0"/>
                </a:spcBef>
              </a:pPr>
              <a:r>
                <a:rPr lang="en-US" sz="3100" b="0" dirty="0">
                  <a:latin typeface="+mj-lt"/>
                </a:rPr>
                <a:t>grid_tune &lt;- expand.grid(nrounds = 1500,  max_depth = 2,  eta = 0.1,  gamma = 0,  colsample_bytree = 1,  min_child_weight = 1,  subsample = 0.5)</a:t>
              </a:r>
            </a:p>
            <a:p>
              <a:pPr algn="l">
                <a:lnSpc>
                  <a:spcPct val="90000"/>
                </a:lnSpc>
                <a:spcBef>
                  <a:spcPts val="0"/>
                </a:spcBef>
              </a:pPr>
              <a:endParaRPr lang="en-US" sz="3100" b="0" dirty="0">
                <a:latin typeface="+mj-lt"/>
              </a:endParaRPr>
            </a:p>
            <a:p>
              <a:pPr algn="l">
                <a:lnSpc>
                  <a:spcPct val="90000"/>
                </a:lnSpc>
                <a:spcBef>
                  <a:spcPts val="0"/>
                </a:spcBef>
              </a:pPr>
              <a:r>
                <a:rPr lang="en-US" sz="3100" b="0" dirty="0">
                  <a:latin typeface="+mj-lt"/>
                </a:rPr>
                <a:t>train_control &lt;- trainControl(method = "cv",                              number=3, verboseIter = TRUE, allowParallel = TRUE)</a:t>
              </a:r>
            </a:p>
            <a:p>
              <a:pPr algn="l">
                <a:lnSpc>
                  <a:spcPct val="90000"/>
                </a:lnSpc>
                <a:spcBef>
                  <a:spcPts val="0"/>
                </a:spcBef>
              </a:pPr>
              <a:endParaRPr lang="en-US" sz="3100" b="0" dirty="0">
                <a:latin typeface="+mj-lt"/>
              </a:endParaRPr>
            </a:p>
            <a:p>
              <a:pPr algn="l">
                <a:lnSpc>
                  <a:spcPct val="90000"/>
                </a:lnSpc>
                <a:spcBef>
                  <a:spcPts val="0"/>
                </a:spcBef>
              </a:pPr>
              <a:r>
                <a:rPr lang="en-US" sz="3100" b="0" dirty="0">
                  <a:latin typeface="+mj-lt"/>
                </a:rPr>
                <a:t>xgb_ou_tune &lt;- train(x = full_data_num_ou[,-49], y = full_data_num_ou[,49], trControl = train_control, tuneGrid = grid_tune, method = "xgbTree", verbose = TRUE)</a:t>
              </a:r>
            </a:p>
            <a:p>
              <a:pPr algn="l">
                <a:lnSpc>
                  <a:spcPct val="90000"/>
                </a:lnSpc>
                <a:spcBef>
                  <a:spcPts val="0"/>
                </a:spcBef>
              </a:pPr>
              <a:endParaRPr lang="en-US" sz="3100" b="0" dirty="0">
                <a:latin typeface="+mj-lt"/>
              </a:endParaRPr>
            </a:p>
            <a:p>
              <a:pPr algn="l">
                <a:lnSpc>
                  <a:spcPct val="90000"/>
                </a:lnSpc>
                <a:spcBef>
                  <a:spcPts val="0"/>
                </a:spcBef>
              </a:pPr>
              <a:r>
                <a:rPr lang="en-US" sz="3100" b="0" dirty="0">
                  <a:latin typeface="+mj-lt"/>
                </a:rPr>
                <a:t>xgb_ou_tunetotal_delta_pred = predict(xgb_ou_tune, schedule_num_ou)</a:t>
              </a:r>
            </a:p>
            <a:p>
              <a:pPr algn="l">
                <a:lnSpc>
                  <a:spcPct val="90000"/>
                </a:lnSpc>
                <a:spcBef>
                  <a:spcPts val="0"/>
                </a:spcBef>
              </a:pPr>
              <a:endParaRPr lang="en-US" sz="3100" b="0" dirty="0">
                <a:latin typeface="+mj-lt"/>
              </a:endParaRPr>
            </a:p>
            <a:p>
              <a:pPr algn="l">
                <a:lnSpc>
                  <a:spcPct val="90000"/>
                </a:lnSpc>
                <a:spcBef>
                  <a:spcPts val="0"/>
                </a:spcBef>
              </a:pPr>
              <a:r>
                <a:rPr lang="en-US" sz="3100" b="0" dirty="0">
                  <a:latin typeface="+mj-lt"/>
                </a:rPr>
                <a:t>schedule_ou$total_delta_pred = round(total_delta_pred,3)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81000" y="24254441"/>
            <a:ext cx="10896600" cy="9197359"/>
            <a:chOff x="381000" y="23409752"/>
            <a:chExt cx="10896600" cy="9197359"/>
          </a:xfrm>
        </p:grpSpPr>
        <p:sp>
          <p:nvSpPr>
            <p:cNvPr id="27" name="Text Box 18"/>
            <p:cNvSpPr txBox="1">
              <a:spLocks noChangeArrowheads="1"/>
            </p:cNvSpPr>
            <p:nvPr/>
          </p:nvSpPr>
          <p:spPr bwMode="auto">
            <a:xfrm>
              <a:off x="381000" y="23409752"/>
              <a:ext cx="10811330" cy="984726"/>
            </a:xfrm>
            <a:prstGeom prst="rect">
              <a:avLst/>
            </a:prstGeom>
            <a:solidFill>
              <a:srgbClr val="F5CB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225903" tIns="112951" rIns="225903" bIns="112951" anchor="ctr">
              <a:spAutoFit/>
            </a:bodyPr>
            <a:lstStyle>
              <a:lvl1pPr defTabSz="2259013"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defTabSz="2259013"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defTabSz="2259013"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defTabSz="2259013"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defTabSz="2259013"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defTabSz="2259013" eaLnBrk="0" fontAlgn="base" hangingPunct="0">
                <a:lnSpc>
                  <a:spcPct val="65000"/>
                </a:lnSpc>
                <a:spcBef>
                  <a:spcPct val="50000"/>
                </a:spcBef>
                <a:spcAft>
                  <a:spcPct val="0"/>
                </a:spcAft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defTabSz="2259013" eaLnBrk="0" fontAlgn="base" hangingPunct="0">
                <a:lnSpc>
                  <a:spcPct val="65000"/>
                </a:lnSpc>
                <a:spcBef>
                  <a:spcPct val="50000"/>
                </a:spcBef>
                <a:spcAft>
                  <a:spcPct val="0"/>
                </a:spcAft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defTabSz="2259013" eaLnBrk="0" fontAlgn="base" hangingPunct="0">
                <a:lnSpc>
                  <a:spcPct val="65000"/>
                </a:lnSpc>
                <a:spcBef>
                  <a:spcPct val="50000"/>
                </a:spcBef>
                <a:spcAft>
                  <a:spcPct val="0"/>
                </a:spcAft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defTabSz="2259013" eaLnBrk="0" fontAlgn="base" hangingPunct="0">
                <a:lnSpc>
                  <a:spcPct val="65000"/>
                </a:lnSpc>
                <a:spcBef>
                  <a:spcPct val="50000"/>
                </a:spcBef>
                <a:spcAft>
                  <a:spcPct val="0"/>
                </a:spcAft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sz="5900" dirty="0"/>
                <a:t>RESULTS</a:t>
              </a:r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457200" y="24481810"/>
              <a:ext cx="10820400" cy="81253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71500" indent="-571500" algn="l">
                <a:lnSpc>
                  <a:spcPct val="100000"/>
                </a:lnSpc>
                <a:spcBef>
                  <a:spcPts val="0"/>
                </a:spcBef>
                <a:buFont typeface="Arial"/>
                <a:buChar char="•"/>
              </a:pPr>
              <a:r>
                <a:rPr lang="en-US" sz="2800" b="0" dirty="0"/>
                <a:t>Random Forest Model</a:t>
              </a:r>
            </a:p>
            <a:p>
              <a:pPr marL="1028700" lvl="1" indent="-571500" algn="l">
                <a:lnSpc>
                  <a:spcPct val="100000"/>
                </a:lnSpc>
                <a:spcBef>
                  <a:spcPts val="0"/>
                </a:spcBef>
                <a:buFont typeface="Arial"/>
                <a:buChar char="•"/>
              </a:pPr>
              <a:r>
                <a:rPr lang="en-US" sz="2800" b="0" dirty="0"/>
                <a:t>Likely under-fitting</a:t>
              </a:r>
            </a:p>
            <a:p>
              <a:pPr marL="1028700" lvl="1" indent="-571500" algn="l">
                <a:lnSpc>
                  <a:spcPct val="100000"/>
                </a:lnSpc>
                <a:spcBef>
                  <a:spcPts val="0"/>
                </a:spcBef>
                <a:buFont typeface="Arial"/>
                <a:buChar char="•"/>
              </a:pPr>
              <a:r>
                <a:rPr lang="en-US" sz="2800" b="0" dirty="0"/>
                <a:t>Conservative</a:t>
              </a:r>
            </a:p>
            <a:p>
              <a:pPr marL="1028700" lvl="1" indent="-571500" algn="l">
                <a:lnSpc>
                  <a:spcPct val="100000"/>
                </a:lnSpc>
                <a:spcBef>
                  <a:spcPts val="0"/>
                </a:spcBef>
                <a:buFont typeface="Arial"/>
                <a:buChar char="•"/>
              </a:pPr>
              <a:r>
                <a:rPr lang="en-US" sz="2800" b="0" dirty="0"/>
                <a:t>Some profit (lower ROR)</a:t>
              </a:r>
            </a:p>
            <a:p>
              <a:pPr marL="571500" indent="-571500" algn="l">
                <a:lnSpc>
                  <a:spcPct val="100000"/>
                </a:lnSpc>
                <a:spcBef>
                  <a:spcPts val="0"/>
                </a:spcBef>
                <a:buFont typeface="Arial"/>
                <a:buChar char="•"/>
              </a:pPr>
              <a:r>
                <a:rPr lang="en-US" sz="2800" b="0" dirty="0"/>
                <a:t>XGBoost Mode</a:t>
              </a:r>
            </a:p>
            <a:p>
              <a:pPr marL="1028700" lvl="1" indent="-571500" algn="l">
                <a:lnSpc>
                  <a:spcPct val="100000"/>
                </a:lnSpc>
                <a:spcBef>
                  <a:spcPts val="0"/>
                </a:spcBef>
                <a:buFont typeface="Arial"/>
                <a:buChar char="•"/>
              </a:pPr>
              <a:r>
                <a:rPr lang="en-US" sz="2800" b="0" dirty="0"/>
                <a:t>Likely over-fitting</a:t>
              </a:r>
            </a:p>
            <a:p>
              <a:pPr marL="1028700" lvl="1" indent="-571500" algn="l">
                <a:lnSpc>
                  <a:spcPct val="100000"/>
                </a:lnSpc>
                <a:spcBef>
                  <a:spcPts val="0"/>
                </a:spcBef>
                <a:buFont typeface="Arial"/>
                <a:buChar char="•"/>
              </a:pPr>
              <a:r>
                <a:rPr lang="en-US" sz="2800" b="0" dirty="0"/>
                <a:t>Aggressive</a:t>
              </a:r>
            </a:p>
            <a:p>
              <a:pPr marL="1028700" lvl="1" indent="-571500" algn="l">
                <a:lnSpc>
                  <a:spcPct val="100000"/>
                </a:lnSpc>
                <a:spcBef>
                  <a:spcPts val="0"/>
                </a:spcBef>
                <a:buFont typeface="Arial"/>
                <a:buChar char="•"/>
              </a:pPr>
              <a:r>
                <a:rPr lang="en-US" sz="2800" b="0" dirty="0"/>
                <a:t>Maximum profit (higher ROR)</a:t>
              </a:r>
            </a:p>
            <a:p>
              <a:pPr marL="571500" indent="-571500" algn="l">
                <a:lnSpc>
                  <a:spcPct val="100000"/>
                </a:lnSpc>
                <a:spcBef>
                  <a:spcPts val="0"/>
                </a:spcBef>
                <a:buFont typeface="Arial"/>
                <a:buChar char="•"/>
              </a:pPr>
              <a:r>
                <a:rPr lang="en-US" sz="2800" b="0" dirty="0"/>
                <a:t>Combination</a:t>
              </a:r>
            </a:p>
            <a:p>
              <a:pPr marL="1028700" lvl="1" indent="-571500" algn="l">
                <a:lnSpc>
                  <a:spcPct val="100000"/>
                </a:lnSpc>
                <a:spcBef>
                  <a:spcPts val="0"/>
                </a:spcBef>
                <a:buFont typeface="Arial"/>
                <a:buChar char="•"/>
              </a:pPr>
              <a:r>
                <a:rPr lang="en-US" sz="2800" b="0" dirty="0"/>
                <a:t>Perfectly molds under-fitting of RFM and over-fitting of XGB model, along with smaller yields of RFM and maximum yields of XGB, to produce highest win % and high net profit while keeping ROR to an acceptable level</a:t>
              </a:r>
            </a:p>
            <a:p>
              <a:pPr marL="571500" indent="-571500" algn="l">
                <a:lnSpc>
                  <a:spcPct val="100000"/>
                </a:lnSpc>
                <a:spcBef>
                  <a:spcPts val="0"/>
                </a:spcBef>
                <a:buFont typeface="Arial"/>
                <a:buChar char="•"/>
              </a:pPr>
              <a:r>
                <a:rPr lang="en-US" sz="2800" b="0" dirty="0"/>
                <a:t>Analysis of result spreads by factor level ≠ statistically accurate generalizations</a:t>
              </a:r>
            </a:p>
            <a:p>
              <a:pPr marL="571500" indent="-571500" algn="l">
                <a:lnSpc>
                  <a:spcPct val="100000"/>
                </a:lnSpc>
                <a:spcBef>
                  <a:spcPts val="0"/>
                </a:spcBef>
                <a:buFont typeface="Arial"/>
                <a:buChar char="•"/>
              </a:pPr>
              <a:r>
                <a:rPr lang="en-US" sz="2800" b="0" dirty="0"/>
                <a:t>Next steps: variable importance, model fine-tuning, increase test data sample size, test repeatability among different seeds, implementation</a:t>
              </a:r>
            </a:p>
            <a:p>
              <a:pPr marL="571500" indent="-571500" algn="l">
                <a:lnSpc>
                  <a:spcPct val="100000"/>
                </a:lnSpc>
                <a:spcBef>
                  <a:spcPts val="0"/>
                </a:spcBef>
                <a:buFont typeface="Arial"/>
                <a:buChar char="•"/>
              </a:pPr>
              <a:endParaRPr lang="en-US" sz="2900" b="0" dirty="0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7067829" y="5624387"/>
            <a:ext cx="18832512" cy="26462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29" name="Picture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81001" y="385593"/>
            <a:ext cx="8833643" cy="2814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 descr="About Random Forest Algorithms.. What is Random Forest? | by Dishant  kharkar | Medium">
            <a:extLst>
              <a:ext uri="{FF2B5EF4-FFF2-40B4-BE49-F238E27FC236}">
                <a16:creationId xmlns:a16="http://schemas.microsoft.com/office/drawing/2014/main" id="{FB4E0C10-DC01-5DD0-4409-F0ACB0C092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8821400"/>
            <a:ext cx="5562600" cy="5323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XGBoost - GeeksforGeeks">
            <a:extLst>
              <a:ext uri="{FF2B5EF4-FFF2-40B4-BE49-F238E27FC236}">
                <a16:creationId xmlns:a16="http://schemas.microsoft.com/office/drawing/2014/main" id="{AD13E17A-A227-D4D7-E810-1B83AF407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18437552"/>
            <a:ext cx="5715000" cy="570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20CD6AE-690D-56CD-1781-A95116CFA7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84108" y="5148678"/>
            <a:ext cx="8566334" cy="48478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937C2B-1C0E-54E6-C70B-C61432AE4F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100778" y="5123506"/>
            <a:ext cx="8618423" cy="48478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78C421-C779-F665-5610-ADC43FA921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469701" y="10559600"/>
            <a:ext cx="8618423" cy="484786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CD3525A-A2AE-9ED9-8BDE-DE5C4497805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84108" y="16030213"/>
            <a:ext cx="8618424" cy="4847864"/>
          </a:xfrm>
          <a:prstGeom prst="rect">
            <a:avLst/>
          </a:prstGeom>
          <a:ln>
            <a:noFill/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445A68-8091-6690-C43E-B8EF893B4C6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593320" y="21441135"/>
            <a:ext cx="8618425" cy="484786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12926DF7-DB03-3A30-D82E-BA0E8F348595}"/>
              </a:ext>
            </a:extLst>
          </p:cNvPr>
          <p:cNvSpPr/>
          <p:nvPr/>
        </p:nvSpPr>
        <p:spPr bwMode="auto">
          <a:xfrm>
            <a:off x="17983200" y="20339254"/>
            <a:ext cx="304800" cy="278090"/>
          </a:xfrm>
          <a:prstGeom prst="rect">
            <a:avLst/>
          </a:prstGeom>
          <a:noFill/>
          <a:ln w="762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2259013" rtl="0" eaLnBrk="0" fontAlgn="base" latinLnBrk="0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B65FD59-7390-1CC0-0E76-F0D1C5BA0985}"/>
              </a:ext>
            </a:extLst>
          </p:cNvPr>
          <p:cNvSpPr/>
          <p:nvPr/>
        </p:nvSpPr>
        <p:spPr bwMode="auto">
          <a:xfrm>
            <a:off x="16091217" y="9448800"/>
            <a:ext cx="304800" cy="278090"/>
          </a:xfrm>
          <a:prstGeom prst="rect">
            <a:avLst/>
          </a:prstGeom>
          <a:noFill/>
          <a:ln w="762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2259013" rtl="0" eaLnBrk="0" fontAlgn="base" latinLnBrk="0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22C48A0-229A-8749-2185-F60AC805CA2D}"/>
              </a:ext>
            </a:extLst>
          </p:cNvPr>
          <p:cNvSpPr/>
          <p:nvPr/>
        </p:nvSpPr>
        <p:spPr bwMode="auto">
          <a:xfrm>
            <a:off x="23012400" y="9456420"/>
            <a:ext cx="304800" cy="278090"/>
          </a:xfrm>
          <a:prstGeom prst="rect">
            <a:avLst/>
          </a:prstGeom>
          <a:noFill/>
          <a:ln w="762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2259013" rtl="0" eaLnBrk="0" fontAlgn="base" latinLnBrk="0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BE005A0-0336-CB5A-87EE-10195875307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284108" y="27690258"/>
            <a:ext cx="8349456" cy="416134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7B8A916-DCAC-11DA-B61A-E9130A4B635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012400" y="27660600"/>
            <a:ext cx="8349456" cy="4191000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9A8538CD-7811-BB3A-537E-96A1B434F1FF}"/>
              </a:ext>
            </a:extLst>
          </p:cNvPr>
          <p:cNvGrpSpPr/>
          <p:nvPr/>
        </p:nvGrpSpPr>
        <p:grpSpPr>
          <a:xfrm>
            <a:off x="32613600" y="27889200"/>
            <a:ext cx="11277600" cy="1828800"/>
            <a:chOff x="32613600" y="23243131"/>
            <a:chExt cx="11277600" cy="1828800"/>
          </a:xfrm>
        </p:grpSpPr>
        <p:sp>
          <p:nvSpPr>
            <p:cNvPr id="39" name="Text Box 18">
              <a:extLst>
                <a:ext uri="{FF2B5EF4-FFF2-40B4-BE49-F238E27FC236}">
                  <a16:creationId xmlns:a16="http://schemas.microsoft.com/office/drawing/2014/main" id="{5293BAE1-B51E-36F7-4AFC-55DB57957E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89800" y="23243131"/>
              <a:ext cx="10820400" cy="984726"/>
            </a:xfrm>
            <a:prstGeom prst="rect">
              <a:avLst/>
            </a:prstGeom>
            <a:solidFill>
              <a:srgbClr val="F5CB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225903" tIns="112951" rIns="225903" bIns="112951" anchor="ctr">
              <a:spAutoFit/>
            </a:bodyPr>
            <a:lstStyle>
              <a:lvl1pPr defTabSz="2259013"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defTabSz="2259013"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defTabSz="2259013"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defTabSz="2259013"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defTabSz="2259013"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defTabSz="2259013" eaLnBrk="0" fontAlgn="base" hangingPunct="0">
                <a:lnSpc>
                  <a:spcPct val="65000"/>
                </a:lnSpc>
                <a:spcBef>
                  <a:spcPct val="50000"/>
                </a:spcBef>
                <a:spcAft>
                  <a:spcPct val="0"/>
                </a:spcAft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defTabSz="2259013" eaLnBrk="0" fontAlgn="base" hangingPunct="0">
                <a:lnSpc>
                  <a:spcPct val="65000"/>
                </a:lnSpc>
                <a:spcBef>
                  <a:spcPct val="50000"/>
                </a:spcBef>
                <a:spcAft>
                  <a:spcPct val="0"/>
                </a:spcAft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defTabSz="2259013" eaLnBrk="0" fontAlgn="base" hangingPunct="0">
                <a:lnSpc>
                  <a:spcPct val="65000"/>
                </a:lnSpc>
                <a:spcBef>
                  <a:spcPct val="50000"/>
                </a:spcBef>
                <a:spcAft>
                  <a:spcPct val="0"/>
                </a:spcAft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defTabSz="2259013" eaLnBrk="0" fontAlgn="base" hangingPunct="0">
                <a:lnSpc>
                  <a:spcPct val="65000"/>
                </a:lnSpc>
                <a:spcBef>
                  <a:spcPct val="50000"/>
                </a:spcBef>
                <a:spcAft>
                  <a:spcPct val="0"/>
                </a:spcAft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sz="5900" dirty="0"/>
                <a:t>LINKS/QR CODES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4695BDE-0F14-911A-AD68-803C36A9EF87}"/>
                </a:ext>
              </a:extLst>
            </p:cNvPr>
            <p:cNvSpPr txBox="1"/>
            <p:nvPr/>
          </p:nvSpPr>
          <p:spPr>
            <a:xfrm>
              <a:off x="32613600" y="24536400"/>
              <a:ext cx="11277600" cy="535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</a:pPr>
              <a:endParaRPr lang="en-US" sz="3200" b="0" dirty="0">
                <a:latin typeface="+mj-lt"/>
              </a:endParaRPr>
            </a:p>
          </p:txBody>
        </p:sp>
      </p:grpSp>
      <p:pic>
        <p:nvPicPr>
          <p:cNvPr id="42" name="Picture 41">
            <a:extLst>
              <a:ext uri="{FF2B5EF4-FFF2-40B4-BE49-F238E27FC236}">
                <a16:creationId xmlns:a16="http://schemas.microsoft.com/office/drawing/2014/main" id="{F6805DC1-9C6A-869E-E9DA-553E22D887B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304992" y="29629283"/>
            <a:ext cx="2786855" cy="275571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41D9D562-F31E-C326-E210-517146858B2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173637" y="29565475"/>
            <a:ext cx="2786855" cy="2755717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95CD5519-6556-283F-9DC5-23E1B45D4124}"/>
              </a:ext>
            </a:extLst>
          </p:cNvPr>
          <p:cNvSpPr txBox="1"/>
          <p:nvPr/>
        </p:nvSpPr>
        <p:spPr>
          <a:xfrm>
            <a:off x="38785800" y="29225298"/>
            <a:ext cx="3886200" cy="470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0" dirty="0"/>
              <a:t>GitHub Portfolio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B190E4F-4FCD-844D-794A-86403823272A}"/>
              </a:ext>
            </a:extLst>
          </p:cNvPr>
          <p:cNvSpPr txBox="1"/>
          <p:nvPr/>
        </p:nvSpPr>
        <p:spPr>
          <a:xfrm>
            <a:off x="33623964" y="29184600"/>
            <a:ext cx="3886200" cy="470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0" dirty="0"/>
              <a:t>LinkedIn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DAD36C-7049-7343-C9CA-34110A8234C7}"/>
              </a:ext>
            </a:extLst>
          </p:cNvPr>
          <p:cNvSpPr txBox="1"/>
          <p:nvPr/>
        </p:nvSpPr>
        <p:spPr>
          <a:xfrm>
            <a:off x="14994090" y="26973293"/>
            <a:ext cx="4929492" cy="386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dirty="0"/>
              <a:t>Over/Under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A2864F-B4D5-7FBF-FDDD-070B61E24611}"/>
              </a:ext>
            </a:extLst>
          </p:cNvPr>
          <p:cNvSpPr txBox="1"/>
          <p:nvPr/>
        </p:nvSpPr>
        <p:spPr>
          <a:xfrm>
            <a:off x="25053528" y="26969284"/>
            <a:ext cx="4267200" cy="386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dirty="0"/>
              <a:t>Spread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A3FE91-4829-5693-E0B5-9F1CE76CE4D6}"/>
              </a:ext>
            </a:extLst>
          </p:cNvPr>
          <p:cNvSpPr txBox="1"/>
          <p:nvPr/>
        </p:nvSpPr>
        <p:spPr>
          <a:xfrm>
            <a:off x="13411200" y="27443168"/>
            <a:ext cx="2209800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dirty="0">
                <a:latin typeface="Arial" panose="020B0604020202020204" pitchFamily="34" charset="0"/>
                <a:cs typeface="Arial" panose="020B0604020202020204" pitchFamily="34" charset="0"/>
              </a:rPr>
              <a:t>ABS(Delta) Threshold: 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A07DA7B-547F-B9C0-3891-47CA6CC4393D}"/>
              </a:ext>
            </a:extLst>
          </p:cNvPr>
          <p:cNvSpPr txBox="1"/>
          <p:nvPr/>
        </p:nvSpPr>
        <p:spPr>
          <a:xfrm>
            <a:off x="16316682" y="27448819"/>
            <a:ext cx="2209800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dirty="0">
                <a:latin typeface="Arial" panose="020B0604020202020204" pitchFamily="34" charset="0"/>
                <a:cs typeface="Arial" panose="020B0604020202020204" pitchFamily="34" charset="0"/>
              </a:rPr>
              <a:t>ABS(Delta) Threshold: 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FEDFC3-4D65-B490-264D-5ABDBBD61847}"/>
              </a:ext>
            </a:extLst>
          </p:cNvPr>
          <p:cNvSpPr txBox="1"/>
          <p:nvPr/>
        </p:nvSpPr>
        <p:spPr>
          <a:xfrm>
            <a:off x="23164800" y="27443168"/>
            <a:ext cx="2209800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dirty="0">
                <a:latin typeface="Arial" panose="020B0604020202020204" pitchFamily="34" charset="0"/>
                <a:cs typeface="Arial" panose="020B0604020202020204" pitchFamily="34" charset="0"/>
              </a:rPr>
              <a:t>ABS(Delta) Threshold: 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3060AB-744A-11B1-8552-3D8501D22F92}"/>
              </a:ext>
            </a:extLst>
          </p:cNvPr>
          <p:cNvSpPr txBox="1"/>
          <p:nvPr/>
        </p:nvSpPr>
        <p:spPr>
          <a:xfrm>
            <a:off x="26060400" y="27448819"/>
            <a:ext cx="2209800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dirty="0">
                <a:latin typeface="Arial" panose="020B0604020202020204" pitchFamily="34" charset="0"/>
                <a:cs typeface="Arial" panose="020B0604020202020204" pitchFamily="34" charset="0"/>
              </a:rPr>
              <a:t>ABS(Delta) Threshold: 3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2641C54A-29B1-A6D4-7193-B5DA8125C54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100778" y="16030212"/>
            <a:ext cx="8618423" cy="4847865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2D4D2C4B-2D2D-CA59-0C5A-3755214CBB14}"/>
              </a:ext>
            </a:extLst>
          </p:cNvPr>
          <p:cNvSpPr txBox="1"/>
          <p:nvPr/>
        </p:nvSpPr>
        <p:spPr>
          <a:xfrm>
            <a:off x="25102918" y="19126200"/>
            <a:ext cx="550926" cy="201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32.48</a:t>
            </a:r>
            <a:endParaRPr lang="en-US" sz="1400" b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86FAE97-684A-2131-D08C-1DEFA1C3914B}"/>
              </a:ext>
            </a:extLst>
          </p:cNvPr>
          <p:cNvSpPr/>
          <p:nvPr/>
        </p:nvSpPr>
        <p:spPr bwMode="auto">
          <a:xfrm>
            <a:off x="25298400" y="20372110"/>
            <a:ext cx="304800" cy="278090"/>
          </a:xfrm>
          <a:prstGeom prst="rect">
            <a:avLst/>
          </a:prstGeom>
          <a:noFill/>
          <a:ln w="762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2259013" rtl="0" eaLnBrk="0" fontAlgn="base" latinLnBrk="0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66389BE-2B5F-B686-46B9-C3AB958A253B}"/>
              </a:ext>
            </a:extLst>
          </p:cNvPr>
          <p:cNvSpPr/>
          <p:nvPr/>
        </p:nvSpPr>
        <p:spPr bwMode="auto">
          <a:xfrm>
            <a:off x="26517600" y="20345400"/>
            <a:ext cx="304800" cy="278090"/>
          </a:xfrm>
          <a:prstGeom prst="rect">
            <a:avLst/>
          </a:prstGeom>
          <a:noFill/>
          <a:ln w="762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2259013" rtl="0" eaLnBrk="0" fontAlgn="base" latinLnBrk="0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pic>
        <p:nvPicPr>
          <p:cNvPr id="1026" name="Picture 2" descr="SVG Vector or PNG File Format - Logo.wine">
            <a:extLst>
              <a:ext uri="{FF2B5EF4-FFF2-40B4-BE49-F238E27FC236}">
                <a16:creationId xmlns:a16="http://schemas.microsoft.com/office/drawing/2014/main" id="{54631C82-BE34-532F-7601-58F8BC6504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09982" y="645977"/>
            <a:ext cx="3933018" cy="2617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Download Microsoft Excel Logo in SVG ...">
            <a:extLst>
              <a:ext uri="{FF2B5EF4-FFF2-40B4-BE49-F238E27FC236}">
                <a16:creationId xmlns:a16="http://schemas.microsoft.com/office/drawing/2014/main" id="{3CA2887F-9290-28E1-A640-FFB973BFA5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70560" y="663858"/>
            <a:ext cx="3811744" cy="2536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2259013" rtl="0" eaLnBrk="0" fontAlgn="base" latinLnBrk="0" hangingPunct="0">
          <a:lnSpc>
            <a:spcPct val="65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5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2259013" rtl="0" eaLnBrk="0" fontAlgn="base" latinLnBrk="0" hangingPunct="0">
          <a:lnSpc>
            <a:spcPct val="65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5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12311</TotalTime>
  <Words>807</Words>
  <Application>Microsoft Office PowerPoint</Application>
  <PresentationFormat>Custom</PresentationFormat>
  <Paragraphs>108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Default Design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Stephen J. Kinzey, Ph.D.</dc:creator>
  <cp:lastModifiedBy>Butler, Jordan</cp:lastModifiedBy>
  <cp:revision>228</cp:revision>
  <dcterms:created xsi:type="dcterms:W3CDTF">1999-06-15T14:29:13Z</dcterms:created>
  <dcterms:modified xsi:type="dcterms:W3CDTF">2024-11-21T03:46:39Z</dcterms:modified>
</cp:coreProperties>
</file>